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62472" y="1490472"/>
            <a:ext cx="5797296" cy="3448219"/>
          </a:xfrm>
          <a:prstGeom prst="roundRect">
            <a:avLst>
              <a:gd name="adj" fmla="val 1591"/>
            </a:avLst>
          </a:prstGeom>
          <a:solidFill>
            <a:srgbClr val="1A2740"/>
          </a:solidFill>
          <a:ln w="12700">
            <a:solidFill>
              <a:srgbClr val="2232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3" name="Image 0" descr="C:\UnrealProject\PointForge\docs\ppt\img\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554480"/>
            <a:ext cx="5669280" cy="33202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417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VIITORX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03504" y="1783080"/>
            <a:ext cx="5577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000" b="1" dirty="0">
                <a:solidFill>
                  <a:srgbClr val="EAF0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PointCloud Viewer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640080" y="3246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Feature Guide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40080" y="388620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223256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886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v1.0.56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4617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Out-of-core viewer for billion-point clouds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0080" y="495604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· LAZ · E57 · PLY · PTS · XYZ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126480" y="59893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Tikal-13 — 12.4M points, streamed live in ViitorX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35D0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ViitorX?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5029200" cy="4480560"/>
          </a:xfrm>
          <a:prstGeom prst="roundRect">
            <a:avLst>
              <a:gd name="adj" fmla="val 1837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58952" y="17556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open clouds bigger than RAM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8952" y="2212848"/>
            <a:ext cx="4572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Ingests very large scans (LAS/LAZ, E57, PLY, PTS/XYZ) — billions of points, larger than memory.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each scan into a streamable on-disk octree, then streams nodes on demand.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Frustum culling + screen-space-error LOD keep only what you can see on the GPU.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loading with an LRU GPU-memory budget — smooth navigation, bounded memory.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 .vxpc package holds the whole cloud plus your bookmarks, measurements &amp; annotations.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06440" y="1737360"/>
            <a:ext cx="2971800" cy="2011680"/>
          </a:xfrm>
          <a:prstGeom prst="roundRect">
            <a:avLst>
              <a:gd name="adj" fmla="val 4545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0" y="20116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5D0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Out-of-core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6035040" y="26974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Streams data far larger than RAM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98280" y="1737360"/>
            <a:ext cx="2971800" cy="2011680"/>
          </a:xfrm>
          <a:prstGeom prst="roundRect">
            <a:avLst>
              <a:gd name="adj" fmla="val 4545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326880" y="20116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5D0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Octree LOD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9326880" y="26974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Screen-space-error detail control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06440" y="4023360"/>
            <a:ext cx="2971800" cy="2011680"/>
          </a:xfrm>
          <a:prstGeom prst="roundRect">
            <a:avLst>
              <a:gd name="adj" fmla="val 4545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42976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5D0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GPU-budgeted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6035040" y="49834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LRU eviction keeps a steady frame rate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98280" y="4023360"/>
            <a:ext cx="2971800" cy="2011680"/>
          </a:xfrm>
          <a:prstGeom prst="roundRect">
            <a:avLst>
              <a:gd name="adj" fmla="val 4545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326880" y="42976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5D0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FPS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9326880" y="49834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12.4M points drawn interactively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35D0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DOCKED SHELL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Workspace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38912" y="1536192"/>
            <a:ext cx="7763256" cy="4599580"/>
          </a:xfrm>
          <a:prstGeom prst="roundRect">
            <a:avLst>
              <a:gd name="adj" fmla="val 1193"/>
            </a:avLst>
          </a:prstGeom>
          <a:solidFill>
            <a:srgbClr val="1A2740"/>
          </a:solidFill>
          <a:ln w="12700">
            <a:solidFill>
              <a:srgbClr val="2232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C:\UnrealProject\PointForge\docs\ppt\img\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7635240" cy="447156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85673" y="1588043"/>
            <a:ext cx="310896" cy="310896"/>
          </a:xfrm>
          <a:prstGeom prst="ellipse">
            <a:avLst/>
          </a:prstGeom>
          <a:solidFill>
            <a:srgbClr val="F2A93B"/>
          </a:solidFill>
          <a:ln w="19050">
            <a:solidFill>
              <a:srgbClr val="0E15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5673" y="158804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85673" y="1901052"/>
            <a:ext cx="310896" cy="310896"/>
          </a:xfrm>
          <a:prstGeom prst="ellipse">
            <a:avLst/>
          </a:prstGeom>
          <a:solidFill>
            <a:srgbClr val="F2A93B"/>
          </a:solidFill>
          <a:ln w="19050">
            <a:solidFill>
              <a:srgbClr val="0E152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5673" y="19010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043788" y="3242522"/>
            <a:ext cx="310896" cy="310896"/>
          </a:xfrm>
          <a:prstGeom prst="ellipse">
            <a:avLst/>
          </a:prstGeom>
          <a:solidFill>
            <a:srgbClr val="F2A93B"/>
          </a:solidFill>
          <a:ln w="19050">
            <a:solidFill>
              <a:srgbClr val="0E152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43788" y="324252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792474" y="3913256"/>
            <a:ext cx="310896" cy="310896"/>
          </a:xfrm>
          <a:prstGeom prst="ellipse">
            <a:avLst/>
          </a:prstGeom>
          <a:solidFill>
            <a:srgbClr val="F2A93B"/>
          </a:solidFill>
          <a:ln w="19050">
            <a:solidFill>
              <a:srgbClr val="0E152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92474" y="3913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228332" y="2929512"/>
            <a:ext cx="310896" cy="310896"/>
          </a:xfrm>
          <a:prstGeom prst="ellipse">
            <a:avLst/>
          </a:prstGeom>
          <a:solidFill>
            <a:srgbClr val="F2A93B"/>
          </a:solidFill>
          <a:ln w="19050">
            <a:solidFill>
              <a:srgbClr val="0E152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28332" y="2929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563417" y="5813671"/>
            <a:ext cx="310896" cy="310896"/>
          </a:xfrm>
          <a:prstGeom prst="ellipse">
            <a:avLst/>
          </a:prstGeom>
          <a:solidFill>
            <a:srgbClr val="F2A93B"/>
          </a:solidFill>
          <a:ln w="19050">
            <a:solidFill>
              <a:srgbClr val="0E152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563417" y="581367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458200" y="1600200"/>
            <a:ext cx="3200400" cy="4480560"/>
          </a:xfrm>
          <a:prstGeom prst="roundRect">
            <a:avLst>
              <a:gd name="adj" fmla="val 2857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641080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006840" y="1755648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bar
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· Edit · View · Tools · Window · Help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8641080" y="25054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006840" y="2478024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Toolbar
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Open, Convert, Frame, tools, color &amp; quality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8641080" y="32278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9006840" y="320040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panel
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Loaded clouds, visibility, add / close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8641080" y="3950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9006840" y="3922776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Viewport
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3D view — orbit, fly, measure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8641080" y="46725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9006840" y="464515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Properties
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Display, camera, annotations, clip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8641080" y="5394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9006840" y="5367528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bar
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hint · GPU · points · FPS · version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35D0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Opening a Cloud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38912" y="1536192"/>
            <a:ext cx="7168896" cy="4251494"/>
          </a:xfrm>
          <a:prstGeom prst="roundRect">
            <a:avLst>
              <a:gd name="adj" fmla="val 1290"/>
            </a:avLst>
          </a:prstGeom>
          <a:solidFill>
            <a:srgbClr val="1A2740"/>
          </a:solidFill>
          <a:ln w="12700">
            <a:solidFill>
              <a:srgbClr val="2232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C:\UnrealProject\PointForge\docs\ppt\img\welc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7040880" cy="412347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955280" y="1600200"/>
            <a:ext cx="3703320" cy="4389120"/>
          </a:xfrm>
          <a:prstGeom prst="roundRect">
            <a:avLst>
              <a:gd name="adj" fmla="val 2222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11312" y="18013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open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11312" y="2258568"/>
            <a:ext cx="3246120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▸ Open Cloud…  (Ctrl+O) — pick a .vxpc package or an octree's meta.bin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&amp; drop a .vxpc or octree folder onto the window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▸ Open Octree Folder… for legacy loose-folder octrees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list on the Welcome screen re-opens past clouds in one click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a raw LAS/LAZ/E57/PLY/PTS/XYZ file → the Convert wizard opens automatically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02920" y="60533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screen — quick actions, recent clouds, drag-and-drop hint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35D0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Menus at a Glance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38912" y="1536192"/>
            <a:ext cx="3803904" cy="1987952"/>
          </a:xfrm>
          <a:prstGeom prst="roundRect">
            <a:avLst>
              <a:gd name="adj" fmla="val 2760"/>
            </a:avLst>
          </a:prstGeom>
          <a:solidFill>
            <a:srgbClr val="1A2740"/>
          </a:solidFill>
          <a:ln w="12700">
            <a:solidFill>
              <a:srgbClr val="2232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C:\UnrealProject\PointForge\docs\ppt\img\menu_file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3675888" cy="18599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569864"/>
            <a:ext cx="3675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 </a:t>
            </a:r>
            <a:pPr algn="l" indent="0" marL="0">
              <a:buNone/>
            </a:pPr>
            <a:r>
              <a:rPr lang="en-US" sz="105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Open, Convert, Save to package, Screenshot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536192"/>
            <a:ext cx="3803904" cy="1987952"/>
          </a:xfrm>
          <a:prstGeom prst="roundRect">
            <a:avLst>
              <a:gd name="adj" fmla="val 2760"/>
            </a:avLst>
          </a:prstGeom>
          <a:solidFill>
            <a:srgbClr val="1A2740"/>
          </a:solidFill>
          <a:ln w="12700">
            <a:solidFill>
              <a:srgbClr val="2232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10" name="Image 1" descr="C:\UnrealProject\PointForge\docs\ppt\img\menu_edit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600200"/>
            <a:ext cx="3675888" cy="18599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61688" y="3569864"/>
            <a:ext cx="3675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 </a:t>
            </a:r>
            <a:pPr algn="l" indent="0" marL="0">
              <a:buNone/>
            </a:pPr>
            <a:r>
              <a:rPr lang="en-US" sz="105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Preferences (Ctrl+,)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156448" y="1536192"/>
            <a:ext cx="3803904" cy="1987952"/>
          </a:xfrm>
          <a:prstGeom prst="roundRect">
            <a:avLst>
              <a:gd name="adj" fmla="val 2760"/>
            </a:avLst>
          </a:prstGeom>
          <a:solidFill>
            <a:srgbClr val="1A2740"/>
          </a:solidFill>
          <a:ln w="12700">
            <a:solidFill>
              <a:srgbClr val="2232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13" name="Image 2" descr="C:\UnrealProject\PointForge\docs\ppt\img\menu_view_cr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0456" y="1600200"/>
            <a:ext cx="3675888" cy="18599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0456" y="3569864"/>
            <a:ext cx="3675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 </a:t>
            </a:r>
            <a:pPr algn="l" indent="0" marL="0">
              <a:buNone/>
            </a:pPr>
            <a:r>
              <a:rPr lang="en-US" sz="105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Presets, color mode, EDL, stereo, zen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38912" y="4050792"/>
            <a:ext cx="3803904" cy="1987952"/>
          </a:xfrm>
          <a:prstGeom prst="roundRect">
            <a:avLst>
              <a:gd name="adj" fmla="val 2760"/>
            </a:avLst>
          </a:prstGeom>
          <a:solidFill>
            <a:srgbClr val="1A2740"/>
          </a:solidFill>
          <a:ln w="12700">
            <a:solidFill>
              <a:srgbClr val="2232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16" name="Image 3" descr="C:\UnrealProject\PointForge\docs\ppt\img\menu_tools_cr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114800"/>
            <a:ext cx="3675888" cy="185993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02920" y="6084464"/>
            <a:ext cx="3675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 </a:t>
            </a:r>
            <a:pPr algn="l" indent="0" marL="0">
              <a:buNone/>
            </a:pPr>
            <a:r>
              <a:rPr lang="en-US" sz="105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· Measure · Annotate · Clip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4297680" y="4050792"/>
            <a:ext cx="3803904" cy="1987952"/>
          </a:xfrm>
          <a:prstGeom prst="roundRect">
            <a:avLst>
              <a:gd name="adj" fmla="val 2760"/>
            </a:avLst>
          </a:prstGeom>
          <a:solidFill>
            <a:srgbClr val="1A2740"/>
          </a:solidFill>
          <a:ln w="12700">
            <a:solidFill>
              <a:srgbClr val="2232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19" name="Image 4" descr="C:\UnrealProject\PointForge\docs\ppt\img\menu_window_cro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1688" y="4114800"/>
            <a:ext cx="3675888" cy="185993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361688" y="6084464"/>
            <a:ext cx="3675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 </a:t>
            </a:r>
            <a:pPr algn="l" indent="0" marL="0">
              <a:buNone/>
            </a:pPr>
            <a:r>
              <a:rPr lang="en-US" sz="105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panels + Reset Layout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8156448" y="4050792"/>
            <a:ext cx="3803904" cy="1987952"/>
          </a:xfrm>
          <a:prstGeom prst="roundRect">
            <a:avLst>
              <a:gd name="adj" fmla="val 2760"/>
            </a:avLst>
          </a:prstGeom>
          <a:solidFill>
            <a:srgbClr val="1A2740"/>
          </a:solidFill>
          <a:ln w="12700">
            <a:solidFill>
              <a:srgbClr val="2232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22" name="Image 5" descr="C:\UnrealProject\PointForge\docs\ppt\img\menu_help_cro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0456" y="4114800"/>
            <a:ext cx="3675888" cy="185993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220456" y="6084464"/>
            <a:ext cx="3675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 </a:t>
            </a:r>
            <a:pPr algn="l" indent="0" marL="0">
              <a:buNone/>
            </a:pPr>
            <a:r>
              <a:rPr lang="en-US" sz="105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Shortcuts (F1), Command Palette, About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35D0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WIZARD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Importing Scans — 1. Source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38912" y="1536192"/>
            <a:ext cx="7168896" cy="4251494"/>
          </a:xfrm>
          <a:prstGeom prst="roundRect">
            <a:avLst>
              <a:gd name="adj" fmla="val 1290"/>
            </a:avLst>
          </a:prstGeom>
          <a:solidFill>
            <a:srgbClr val="1A2740"/>
          </a:solidFill>
          <a:ln w="12700">
            <a:solidFill>
              <a:srgbClr val="2232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C:\UnrealProject\PointForge\docs\ppt\img\convert_sour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7040880" cy="412347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955280" y="1600200"/>
            <a:ext cx="3703320" cy="4389120"/>
          </a:xfrm>
          <a:prstGeom prst="roundRect">
            <a:avLst>
              <a:gd name="adj" fmla="val 2222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11312" y="18013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your scan files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11312" y="2258568"/>
            <a:ext cx="3246120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wizard: File ▸ Convert a Scan…  (Ctrl+I)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for files… — select one or many, or drag &amp; drop onto the window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Accepts LAS, LAZ, E57, PLY, PTS and XYZ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file's size is listed; remove any with the ✕ button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4-step breadcrumb tracks progress: Source ▸ Quality ▸ Destination ▸ Convert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02920" y="60533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one 308 MB LAS selected, ready for the next step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35D0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WIZARD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Importing Scans — 2. Quality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38912" y="1536192"/>
            <a:ext cx="7168896" cy="4251494"/>
          </a:xfrm>
          <a:prstGeom prst="roundRect">
            <a:avLst>
              <a:gd name="adj" fmla="val 1290"/>
            </a:avLst>
          </a:prstGeom>
          <a:solidFill>
            <a:srgbClr val="1A2740"/>
          </a:solidFill>
          <a:ln w="12700">
            <a:solidFill>
              <a:srgbClr val="2232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C:\UnrealProject\PointForge\docs\ppt\img\convert_qua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7040880" cy="412347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955280" y="1600200"/>
            <a:ext cx="3703320" cy="4389120"/>
          </a:xfrm>
          <a:prstGeom prst="roundRect">
            <a:avLst>
              <a:gd name="adj" fmla="val 2222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11312" y="18013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presets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11312" y="2258568"/>
            <a:ext cx="3246120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b="1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(recommended) — great detail at a sensible speed &amp; size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— fastest, coarser detail; good for a quick first look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— best close-up detail; slower to build, larger on disk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— unlocks every parameter under Advanced settings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quality sharpens close-up detail but takes longer and makes a bigger file.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02920" y="60533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— choose a quality preset (or open Advanced settings)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35D0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WIZARD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Importing Scans — 3. Advanced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38912" y="1536192"/>
            <a:ext cx="7168896" cy="4251494"/>
          </a:xfrm>
          <a:prstGeom prst="roundRect">
            <a:avLst>
              <a:gd name="adj" fmla="val 1290"/>
            </a:avLst>
          </a:prstGeom>
          <a:solidFill>
            <a:srgbClr val="1A2740"/>
          </a:solidFill>
          <a:ln w="12700">
            <a:solidFill>
              <a:srgbClr val="2232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C:\UnrealProject\PointForge\docs\ppt\img\convert_advanc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7040880" cy="412347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955280" y="1600200"/>
            <a:ext cx="3703320" cy="4389120"/>
          </a:xfrm>
          <a:prstGeom prst="roundRect">
            <a:avLst>
              <a:gd name="adj" fmla="val 2222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11312" y="18013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Fine-grained control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11312" y="2258568"/>
            <a:ext cx="3246120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 — Spacing (0 = auto), Leaf size (max pts/node), Max depth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— Chunk grid depth, Flush budget (Mpts), Indexer threads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— Compress nodes (zstd) and Keep chunk files (debug)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Editing any value switches the preset to Custom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 step then writes a .vxpc (with optional auto-open) — or a folder for batches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02920" y="60533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settings — the same knobs as the pfconvert CLI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35D0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WIZARD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Importing Photos — Photogrammetry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38912" y="1536192"/>
            <a:ext cx="7168896" cy="4281302"/>
          </a:xfrm>
          <a:prstGeom prst="roundRect">
            <a:avLst>
              <a:gd name="adj" fmla="val 1281"/>
            </a:avLst>
          </a:prstGeom>
          <a:solidFill>
            <a:srgbClr val="1A2740"/>
          </a:solidFill>
          <a:ln w="12700">
            <a:solidFill>
              <a:srgbClr val="2232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C:\UnrealProject\PointForge\docs\ppt\img\convert_phot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7040880" cy="415328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955280" y="1417320"/>
            <a:ext cx="3703320" cy="4892040"/>
          </a:xfrm>
          <a:prstGeom prst="roundRect">
            <a:avLst>
              <a:gd name="adj" fmla="val 2222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11312" y="161848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 in, point cloud out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11312" y="2075688"/>
            <a:ext cx="3246120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start from photos — pick a folder of overlapping drone / camera JPGs, or drag it onto the window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tags found → ODM — georeferenced, metric-scale LAZ (runs via Docker)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GPS or no NVIDIA GPU → COLMAP — densest native reconstruction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picks the best engine and explains why; override any time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consent click installs both engines automatically — no manual setup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Cancelable background job: reconstruct, then convert to .vxpc like any scan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blocked? The wizard shows this PC's exact BIOS steps to enable virtualization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02920" y="588150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271 drone photos scanned — GPS found, engine status, and board-specific BIOS help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35D0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 Modes — True Color &amp; Elevation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38912" y="1673352"/>
            <a:ext cx="5614416" cy="3341116"/>
          </a:xfrm>
          <a:prstGeom prst="roundRect">
            <a:avLst>
              <a:gd name="adj" fmla="val 1642"/>
            </a:avLst>
          </a:prstGeom>
          <a:solidFill>
            <a:srgbClr val="1A2740"/>
          </a:solidFill>
          <a:ln w="12700">
            <a:solidFill>
              <a:srgbClr val="2232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C:\UnrealProject\PointForge\docs\ppt\img\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37360"/>
            <a:ext cx="5486400" cy="32131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91072" y="1673352"/>
            <a:ext cx="5614416" cy="3341116"/>
          </a:xfrm>
          <a:prstGeom prst="roundRect">
            <a:avLst>
              <a:gd name="adj" fmla="val 1642"/>
            </a:avLst>
          </a:prstGeom>
          <a:solidFill>
            <a:srgbClr val="1A2740"/>
          </a:solidFill>
          <a:ln w="12700">
            <a:solidFill>
              <a:srgbClr val="2232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9" name="Image 1" descr="C:\UnrealProject\PointForge\docs\ppt\img\color_ele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737360"/>
            <a:ext cx="5486400" cy="32131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920" y="50784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Color — the scan's captured RGB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355080" y="50784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Elevation — Turbo colormap by height, with a Z(m) legend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How:  </a:t>
            </a:r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Toolbar color dropdown, the Properties ▸ Display ▸ Color Mode combo, or View ▸ Color Mode.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35D0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 Modes — Intensity &amp; Classification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38912" y="1673352"/>
            <a:ext cx="5614416" cy="3341116"/>
          </a:xfrm>
          <a:prstGeom prst="roundRect">
            <a:avLst>
              <a:gd name="adj" fmla="val 1642"/>
            </a:avLst>
          </a:prstGeom>
          <a:solidFill>
            <a:srgbClr val="1A2740"/>
          </a:solidFill>
          <a:ln w="12700">
            <a:solidFill>
              <a:srgbClr val="2232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C:\UnrealProject\PointForge\docs\ppt\img\color_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37360"/>
            <a:ext cx="5486400" cy="32131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91072" y="1673352"/>
            <a:ext cx="5614416" cy="3341116"/>
          </a:xfrm>
          <a:prstGeom prst="roundRect">
            <a:avLst>
              <a:gd name="adj" fmla="val 1642"/>
            </a:avLst>
          </a:prstGeom>
          <a:solidFill>
            <a:srgbClr val="1A2740"/>
          </a:solidFill>
          <a:ln w="12700">
            <a:solidFill>
              <a:srgbClr val="2232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9" name="Image 1" descr="C:\UnrealProject\PointForge\docs\ppt\img\color_cl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737360"/>
            <a:ext cx="5486400" cy="32131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920" y="50784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Intensity — LiDAR return strength, Turbo legend (auto-scaled)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355080" y="50784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— per-point class (e.g. ground vs. vegetation)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Also:  </a:t>
            </a:r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Color mode paints every point one picked colour — handy against the Elevation/Intensity Turbo legends.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35D0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 &amp; Eye-Dome Lighting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76072" y="1673352"/>
            <a:ext cx="3419856" cy="3356551"/>
          </a:xfrm>
          <a:prstGeom prst="roundRect">
            <a:avLst>
              <a:gd name="adj" fmla="val 1635"/>
            </a:avLst>
          </a:prstGeom>
          <a:solidFill>
            <a:srgbClr val="1A2740"/>
          </a:solidFill>
          <a:ln w="12700">
            <a:solidFill>
              <a:srgbClr val="2232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C:\UnrealProject\PointForge\docs\ppt\img\panel_dis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3291840" cy="322853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480560" y="1600200"/>
            <a:ext cx="7178040" cy="4434840"/>
          </a:xfrm>
          <a:prstGeom prst="roundRect">
            <a:avLst>
              <a:gd name="adj" fmla="val 1856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736592" y="1801368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 how points draw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736592" y="2258568"/>
            <a:ext cx="6720840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— Low / Medium / High / Ultra maps to the LOD budget + GPU memory budget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size — 1–16 px slider (or Ctrl + mouse-wheel in the viewport)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Eye-Dome Lighting (EDL) — screen-space shading that reveals depth &amp; shape on uncoloured clouds; Strength and Radius sliders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— LOD budget (screen-space error, px), GPU budget (MB), Uploads/frame, Round points, Attenuate, Background colour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Info shows point count, node count and cube size for the active cloud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0080" y="5075623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Properties ▸ Display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35D0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Distances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38912" y="1536192"/>
            <a:ext cx="7168896" cy="4251494"/>
          </a:xfrm>
          <a:prstGeom prst="roundRect">
            <a:avLst>
              <a:gd name="adj" fmla="val 1290"/>
            </a:avLst>
          </a:prstGeom>
          <a:solidFill>
            <a:srgbClr val="1A2740"/>
          </a:solidFill>
          <a:ln w="12700">
            <a:solidFill>
              <a:srgbClr val="2232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C:\UnrealProject\PointForge\docs\ppt\img\meas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7040880" cy="412347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955280" y="1600200"/>
            <a:ext cx="3703320" cy="4389120"/>
          </a:xfrm>
          <a:prstGeom prst="roundRect">
            <a:avLst>
              <a:gd name="adj" fmla="val 2222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11312" y="18013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tool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11312" y="2258568"/>
            <a:ext cx="3246120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Activate: toolbar Measure, Tools ▸ Measure, or press M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Left-click points in the viewport to build a polyline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segment is labelled; a running Total (m) is shown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Undo / Clear / Copy (points + total to clipboard) / Done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Drawn as real 3D geometry — visible in screenshots &amp; the web stream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02920" y="60533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points — 95.7 m + 38.2 m = 133.9 m total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35D0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Annotations &amp; Bookmarks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76072" y="1719072"/>
            <a:ext cx="3419856" cy="2558913"/>
          </a:xfrm>
          <a:prstGeom prst="roundRect">
            <a:avLst>
              <a:gd name="adj" fmla="val 2144"/>
            </a:avLst>
          </a:prstGeom>
          <a:solidFill>
            <a:srgbClr val="1A2740"/>
          </a:solidFill>
          <a:ln w="12700">
            <a:solidFill>
              <a:srgbClr val="2232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C:\UnrealProject\PointForge\docs\ppt\img\panel_an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3291840" cy="243089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480560" y="1600200"/>
            <a:ext cx="7178040" cy="4434840"/>
          </a:xfrm>
          <a:prstGeom prst="roundRect">
            <a:avLst>
              <a:gd name="adj" fmla="val 1856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736592" y="1801368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points &amp; save views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736592" y="2258568"/>
            <a:ext cx="6720840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Annotate tool (toolbar / Tools ▸ Annotate / A) — click points to drop labelled pins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Rename each pin, jump to it with Go, or remove it; coordinates are shown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Bookmarks (Properties ▸ Camera) save named camera poses per cloud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Pins, bookmarks, measurements &amp; camera paths persist — stored beside the octree and embeddable into the .vxpc via File ▸ Save Project Data to Package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0080" y="4323705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Annotations panel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35D0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Clipping &amp; Slice Export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38912" y="1536192"/>
            <a:ext cx="7168896" cy="4251494"/>
          </a:xfrm>
          <a:prstGeom prst="roundRect">
            <a:avLst>
              <a:gd name="adj" fmla="val 1290"/>
            </a:avLst>
          </a:prstGeom>
          <a:solidFill>
            <a:srgbClr val="1A2740"/>
          </a:solidFill>
          <a:ln w="12700">
            <a:solidFill>
              <a:srgbClr val="2232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C:\UnrealProject\PointForge\docs\ppt\img\sl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7040880" cy="412347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955280" y="1600200"/>
            <a:ext cx="3703320" cy="4389120"/>
          </a:xfrm>
          <a:prstGeom prst="roundRect">
            <a:avLst>
              <a:gd name="adj" fmla="val 2222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11312" y="18013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&amp; export a slice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11312" y="2258568"/>
            <a:ext cx="3246120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 tool (toolbar / Tools ▸ Clip / C) — enable an axis-aligned clip box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the Min / Max sliders per axis; Reset Planes to clear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slice… writes the clipped region to disk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Formats: DXF (CAD lines), PNG (rendered image), CSV (x,y,z,rgb,intensity,class)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estimated point count warns before very large exports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02920" y="60533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Slice Export — DXF / PNG / CSV with a live point-count estimate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35D0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 Paths &amp; Video Export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38912" y="1536192"/>
            <a:ext cx="7168896" cy="4251494"/>
          </a:xfrm>
          <a:prstGeom prst="roundRect">
            <a:avLst>
              <a:gd name="adj" fmla="val 1290"/>
            </a:avLst>
          </a:prstGeom>
          <a:solidFill>
            <a:srgbClr val="1A2740"/>
          </a:solidFill>
          <a:ln w="12700">
            <a:solidFill>
              <a:srgbClr val="2232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C:\UnrealProject\PointForge\docs\ppt\img\campa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7040880" cy="412347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955280" y="1600200"/>
            <a:ext cx="3703320" cy="4389120"/>
          </a:xfrm>
          <a:prstGeom prst="roundRect">
            <a:avLst>
              <a:gd name="adj" fmla="val 2222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11312" y="18013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Fly-through animation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11312" y="2258568"/>
            <a:ext cx="3246120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Properties ▸ Camera Path — Add Key at Current View to set keyframes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key has a time; Go / Set / delete per key; Scrub to preview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plays the interpolated path in the viewport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MP4… — resolution (up to 4K), frame rate, H.264 bitrate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Hardware-accelerated (NVENC / QuickSync) via Windows Media Foundation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02920" y="60533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keyframes over 4 s — ready to preview or export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35D0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IMMERSIVE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Stereoscopic 3D (SBS)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719072" y="1627632"/>
            <a:ext cx="8723376" cy="5161873"/>
          </a:xfrm>
          <a:prstGeom prst="roundRect">
            <a:avLst>
              <a:gd name="adj" fmla="val 1063"/>
            </a:avLst>
          </a:prstGeom>
          <a:solidFill>
            <a:srgbClr val="1A2740"/>
          </a:solidFill>
          <a:ln w="12700">
            <a:solidFill>
              <a:srgbClr val="2232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C:\UnrealProject\PointForge\docs\ppt\img\ster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691640"/>
            <a:ext cx="8595360" cy="503385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6172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F9 </a:t>
            </a:r>
            <a:pPr algn="ctr"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toggles side-by-side stereo — all UI hides so each eye sees only the cloud. Press F9 or Esc to exit. Set eye separation (IPD) &amp; focal distance in Preferences ▸ Display.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35D0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&amp; Monitoring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38912" y="1673352"/>
            <a:ext cx="5614416" cy="3341116"/>
          </a:xfrm>
          <a:prstGeom prst="roundRect">
            <a:avLst>
              <a:gd name="adj" fmla="val 1642"/>
            </a:avLst>
          </a:prstGeom>
          <a:solidFill>
            <a:srgbClr val="1A2740"/>
          </a:solidFill>
          <a:ln w="12700">
            <a:solidFill>
              <a:srgbClr val="2232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C:\UnrealProject\PointForge\docs\ppt\img\per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37360"/>
            <a:ext cx="5486400" cy="32131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91072" y="1673352"/>
            <a:ext cx="5614416" cy="3341116"/>
          </a:xfrm>
          <a:prstGeom prst="roundRect">
            <a:avLst>
              <a:gd name="adj" fmla="val 1642"/>
            </a:avLst>
          </a:prstGeom>
          <a:solidFill>
            <a:srgbClr val="1A2740"/>
          </a:solidFill>
          <a:ln w="12700">
            <a:solidFill>
              <a:srgbClr val="2232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9" name="Image 1" descr="C:\UnrealProject\PointForge\docs\ppt\img\sta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737360"/>
            <a:ext cx="5486400" cy="32131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920" y="50784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panel — FPS plot, node/point counts, GPU budget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355080" y="50784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Stats overlay (F3) — a live HUD over the viewport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Panels:  </a:t>
            </a:r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menu toggles Scene, Properties, Jobs, Console and Performance. Conversions run as background Jobs with progress, ETA and a Console log.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35D0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 Palette &amp; Navigation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38912" y="1536192"/>
            <a:ext cx="7168896" cy="4251494"/>
          </a:xfrm>
          <a:prstGeom prst="roundRect">
            <a:avLst>
              <a:gd name="adj" fmla="val 1290"/>
            </a:avLst>
          </a:prstGeom>
          <a:solidFill>
            <a:srgbClr val="1A2740"/>
          </a:solidFill>
          <a:ln w="12700">
            <a:solidFill>
              <a:srgbClr val="2232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C:\UnrealProject\PointForge\docs\ppt\img\palet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7040880" cy="412347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955280" y="1600200"/>
            <a:ext cx="3703320" cy="4389120"/>
          </a:xfrm>
          <a:prstGeom prst="roundRect">
            <a:avLst>
              <a:gd name="adj" fmla="val 2222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11312" y="18013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&amp; command fast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11312" y="2258568"/>
            <a:ext cx="3246120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Ctrl+P — fuzzy Command Palette for every action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LMB drag orbit · double-click to focus · RMB free-look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 zooms to cursor; WASD + Q/E to fly (Shift = 5× fast)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Presets: 1 front · 3 side · 7 top · 5 orthographic · F frame all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shows the full keyboard-shortcut overlay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02920" y="60533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Palette — type to filter, Enter to run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35D0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Preferences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38912" y="1673352"/>
            <a:ext cx="5614416" cy="3341116"/>
          </a:xfrm>
          <a:prstGeom prst="roundRect">
            <a:avLst>
              <a:gd name="adj" fmla="val 1642"/>
            </a:avLst>
          </a:prstGeom>
          <a:solidFill>
            <a:srgbClr val="1A2740"/>
          </a:solidFill>
          <a:ln w="12700">
            <a:solidFill>
              <a:srgbClr val="2232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C:\UnrealProject\PointForge\docs\ppt\img\prefs_gene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37360"/>
            <a:ext cx="5486400" cy="32131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91072" y="1673352"/>
            <a:ext cx="5614416" cy="3341116"/>
          </a:xfrm>
          <a:prstGeom prst="roundRect">
            <a:avLst>
              <a:gd name="adj" fmla="val 1642"/>
            </a:avLst>
          </a:prstGeom>
          <a:solidFill>
            <a:srgbClr val="1A2740"/>
          </a:solidFill>
          <a:ln w="12700">
            <a:solidFill>
              <a:srgbClr val="2232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9" name="Image 1" descr="C:\UnrealProject\PointForge\docs\ppt\img\prefs_inp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737360"/>
            <a:ext cx="5486400" cy="32131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920" y="50784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— theme, UI scale, auto-load, .vxpc file association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355080" y="50784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— gamepad sensitivity, deadzone, serial controller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Open:  </a:t>
            </a:r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▸ Preferences… (Ctrl+,). Tabs: General · Display (stereo IPD) · Input · Advanced (reset all). Settings persist between sessions.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35D0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CONNECTIVITY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Remote &amp; Controllers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38912" y="1536192"/>
            <a:ext cx="7168896" cy="4251494"/>
          </a:xfrm>
          <a:prstGeom prst="roundRect">
            <a:avLst>
              <a:gd name="adj" fmla="val 1290"/>
            </a:avLst>
          </a:prstGeom>
          <a:solidFill>
            <a:srgbClr val="1A2740"/>
          </a:solidFill>
          <a:ln w="12700">
            <a:solidFill>
              <a:srgbClr val="2232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C:\UnrealProject\PointForge\docs\ppt\img\prefs_we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7040880" cy="412347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955280" y="1600200"/>
            <a:ext cx="3703320" cy="4389120"/>
          </a:xfrm>
          <a:prstGeom prst="roundRect">
            <a:avLst>
              <a:gd name="adj" fmla="val 2222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11312" y="18013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from a phone or pad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11312" y="2258568"/>
            <a:ext cx="3246120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remote — a phone-browser control page on your WiFi (default port 8899)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roles: a Driver PIN (full control) and a Viewer PIN (watch-only)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connect QR to join instantly; live JPEG/WebRTC viewport streaming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Gamepad — enable &amp; tune deadzone / look / move sensitivity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(Bluetooth) controller — auto-detect by MAC or set the COM port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02920" y="60533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Preferences ▸ Input — web remote (serving URL &amp; PINs redacted)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35D0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16152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Keyboard Shortcuts</a:t>
            </a:r>
            <a:endParaRPr lang="en-US" sz="3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111556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840480"/>
                <a:gridCol w="1737360"/>
                <a:gridCol w="384048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5D0C4"/>
                          </a:solidFill>
                        </a:rPr>
                        <a:t>Key</a:t>
                      </a:r>
                      <a:endParaRPr lang="en-US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2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5D0C4"/>
                          </a:solidFill>
                        </a:rPr>
                        <a:t>Action</a:t>
                      </a:r>
                      <a:endParaRPr lang="en-US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2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5D0C4"/>
                          </a:solidFill>
                        </a:rPr>
                        <a:t>Key</a:t>
                      </a:r>
                      <a:endParaRPr lang="en-US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2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5D0C4"/>
                          </a:solidFill>
                        </a:rPr>
                        <a:t>Action</a:t>
                      </a:r>
                      <a:endParaRPr lang="en-US" sz="12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25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2A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Ctrl+O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0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cloud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2A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0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 all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2A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Ctrl+I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0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Convert a scan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2A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/ 3 / 7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0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 / side / top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2A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Ctrl+P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0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Command palette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2A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0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Orthographic toggle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2A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Ctrl+,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0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Preferences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2A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 / A / C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0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 / annotate / clip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2A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F1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0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Shortcuts overlay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2A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Esc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0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Exit tool / popup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2A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F3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0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Stats overlay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2A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WASD Q 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0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Fly (Shift = fast)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2A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F5 / Sh+Spc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0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Hide UI (zen)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2A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LMB / RMB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0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Orbit / free-look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2A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F9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0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Stereoscopic SBS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2A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2× LMB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0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Focus pivot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2A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F11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0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Fullscreen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2A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Wheel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0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Zoom (Ctrl = point size)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2A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F12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0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Screenshot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2A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Esc Esc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0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 keys are ignored while typing in a field. Gamepad &amp; serial-pad mappings are listed in Preferences ▸ Input.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0" kern="0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VIITORX POINTCLOUD VIEWER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03504" y="26517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AF0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once, explore anything.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Billion-point clouds, streamed interactively — with measurement, clipping, slice export, camera-path video, stereoscopic 3D and a phone web-remote.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66344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22325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663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5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v1.0.56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ViitorX PointCloud Viewer — Feature Guide</dc:title>
  <dc:subject>PptxGenJS Presentation</dc:subject>
  <dc:creator>ViitorX</dc:creator>
  <cp:lastModifiedBy>ViitorX</cp:lastModifiedBy>
  <cp:revision>1</cp:revision>
  <dcterms:created xsi:type="dcterms:W3CDTF">2026-07-14T06:06:19Z</dcterms:created>
  <dcterms:modified xsi:type="dcterms:W3CDTF">2026-07-14T06:06:19Z</dcterms:modified>
</cp:coreProperties>
</file>